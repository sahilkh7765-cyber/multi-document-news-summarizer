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A2A2A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A2A2A"/>
                </a:solidFill>
                <a:latin typeface="Arial"/>
              </a:rPr>
              <a:t>Mean ROUGE F-measure: baseline vs. pipeline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LEAD-2 Baseline</c:v>
                </c:pt>
              </c:strCache>
            </c:strRef>
          </c:tx>
          <c:spPr>
            <a:solidFill>
              <a:srgbClr val="C7A2A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ROUGE-1</c:v>
                </c:pt>
                <c:pt idx="1">
                  <c:v>ROUGE-2</c:v>
                </c:pt>
                <c:pt idx="2">
                  <c:v>ROUGE-L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0.44429999999999997</c:v>
                </c:pt>
                <c:pt idx="1">
                  <c:v>0.2384</c:v>
                </c:pt>
                <c:pt idx="2">
                  <c:v>0.3448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AB-421C-9800-32348CBE0B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This Pipeline</c:v>
                </c:pt>
              </c:strCache>
            </c:strRef>
          </c:tx>
          <c:spPr>
            <a:solidFill>
              <a:srgbClr val="9F1C3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ROUGE-1</c:v>
                </c:pt>
                <c:pt idx="1">
                  <c:v>ROUGE-2</c:v>
                </c:pt>
                <c:pt idx="2">
                  <c:v>ROUGE-L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0.52100000000000002</c:v>
                </c:pt>
                <c:pt idx="1">
                  <c:v>0.30380000000000001</c:v>
                </c:pt>
                <c:pt idx="2">
                  <c:v>0.40910000000000002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AB-421C-9800-32348CBE0B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54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6E1424"/>
          </a:solidFill>
          <a:ln/>
        </p:spPr>
      </p:sp>
      <p:sp>
        <p:nvSpPr>
          <p:cNvPr id="3" name="Shape 1"/>
          <p:cNvSpPr/>
          <p:nvPr/>
        </p:nvSpPr>
        <p:spPr>
          <a:xfrm>
            <a:off x="5044288" y="411480"/>
            <a:ext cx="21031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pic>
        <p:nvPicPr>
          <p:cNvPr id="4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308" y="487012"/>
            <a:ext cx="1783080" cy="781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481328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AND DATA SCIENCE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81051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•  TE LAB Project Presentation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105457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Multi-Document News Summarization with</a:t>
            </a:r>
            <a:endParaRPr lang="en-US" sz="34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Cross-Source Coverage Comparison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095848" y="4709160"/>
            <a:ext cx="0" cy="960120"/>
          </a:xfrm>
          <a:prstGeom prst="line">
            <a:avLst/>
          </a:prstGeom>
          <a:noFill/>
          <a:ln w="12700">
            <a:solidFill>
              <a:srgbClr val="C97D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91001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222140" y="4567428"/>
            <a:ext cx="4543961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Sejal Zende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Sahil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Vedant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Vedika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Vedashree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15288" y="5367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70168" y="4709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370168" y="5001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Saguna Ingle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60807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Ramrao Adik Institute of Technology, Navi Mumbai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49961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50545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of the Existing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51129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Existing Systems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51713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5778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552297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15544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149961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and Methodologies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25603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250545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35661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351129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Analysis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45720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4572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013448" y="451713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55778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5577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13448" y="5522976"/>
            <a:ext cx="43708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3716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31673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events are reported by several publishers at once, producing both duplicated facts and small pieces of unique, source-specific detail.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32257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build a system that accepts a set of articles on one event and produces a single, non-redundant consensus summary.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32841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identifies content reported exclusively by individual sources, making differences in editorial coverage explicit.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433425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extractive redundancy reduction with summary generation, plus a dedicated cross-source divergence-detection module.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534009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a consensus summary, source-exclusive claims, and an entity coverage comparison, delivered through one interface.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OF THE EXISTING SYSTEMS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3716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31673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vs. abstractive summarization: extractive selection is factually safe but disjointed; abstractive generation is fluent but prone to hallucination (Nenkova &amp; McKeown, 2012).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32257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PEGASUS pretrains with a gap-sentence objective, and its Multi-News checkpoint is fine-tuned directly on multi-document input (Zhang et al., 2020).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32841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Longformer replaces full self-attention with local + global attention, extending usable input to 16,000 tokens (Beltagy et al., 2020).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433425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produces siamese-trained sentence embeddings that make semantic similarity comparison efficient (Reimers &amp; Gurevych, 2019).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534009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Multi-News supplies a benchmark corpus for multi-document summarization, scored with ROUGE and BERTScore (Fabbri et al., 2019; Lin, 2004; Zhang et al., 2020).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EXISTING SYSTEMS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3716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31673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multi-document summarizers address only redundancy and treat source-exclusive content as noise to be discarded.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32257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transformers such as BART and PEGASUS have a fixed context window, well below the 4,000+ tokens in a typical eight-article cluster.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32841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Lexical-overlap measures such as Jaccard similarity cannot recognise a paraphrased restatement of the same fact across sources.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433425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exists to flag contradictions when sources report different figures or sequences for the same event.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534009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editorial coverage between publishers remain invisible to a reader who consults only one source.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7ECEE"/>
          </a:solidFill>
          <a:ln w="15875">
            <a:solidFill>
              <a:srgbClr val="9F1C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536192"/>
            <a:ext cx="103327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6E14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design, implement and evaluate a multi-document summarization system that accepts news articles reporting the same event from different publishers, produces one non-redundant consensus summary, and separately surfaces the information reported exclusively by each source.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3099816"/>
            <a:ext cx="10222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 set of news articles from different publishers reporting the same real-world event.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4105656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98448" y="4050792"/>
            <a:ext cx="10222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1: a single, non-redundant consensus summary of the event.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5056632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5056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5001768"/>
            <a:ext cx="10222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2: source-exclusive claims that reveal differences in editorial coverage between outlets.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0080" y="6007608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6007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98448" y="5952744"/>
            <a:ext cx="10222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measured with ROUGE / BERTScore for the summary and precision, recall and F1 for divergence detection.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5964" y="1536192"/>
            <a:ext cx="1874520" cy="1536192"/>
          </a:xfrm>
          <a:prstGeom prst="roundRect">
            <a:avLst>
              <a:gd name="adj" fmla="val 4167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239116" y="1627632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39116" y="2231136"/>
            <a:ext cx="1728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extract and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articles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022196" y="120700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3052" y="2157984"/>
            <a:ext cx="365760" cy="292608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11" name="Shape 8"/>
          <p:cNvSpPr/>
          <p:nvPr/>
        </p:nvSpPr>
        <p:spPr>
          <a:xfrm>
            <a:off x="2662276" y="1536192"/>
            <a:ext cx="1874520" cy="1536192"/>
          </a:xfrm>
          <a:prstGeom prst="roundRect">
            <a:avLst>
              <a:gd name="adj" fmla="val 4167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735428" y="1627632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2735428" y="2231136"/>
            <a:ext cx="1728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cluster into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deduplicate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18508" y="120700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09364" y="2157984"/>
            <a:ext cx="365760" cy="292608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16" name="Shape 13"/>
          <p:cNvSpPr/>
          <p:nvPr/>
        </p:nvSpPr>
        <p:spPr>
          <a:xfrm>
            <a:off x="5158588" y="1536192"/>
            <a:ext cx="1874520" cy="1536192"/>
          </a:xfrm>
          <a:prstGeom prst="roundRect">
            <a:avLst>
              <a:gd name="adj" fmla="val 4167"/>
            </a:avLst>
          </a:prstGeom>
          <a:solidFill>
            <a:srgbClr val="6E1424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231740" y="1627632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231740" y="2231136"/>
            <a:ext cx="1728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summary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14820" y="120700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05676" y="2157984"/>
            <a:ext cx="365760" cy="292608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21" name="Shape 18"/>
          <p:cNvSpPr/>
          <p:nvPr/>
        </p:nvSpPr>
        <p:spPr>
          <a:xfrm>
            <a:off x="7654900" y="1536192"/>
            <a:ext cx="1874520" cy="1536192"/>
          </a:xfrm>
          <a:prstGeom prst="roundRect">
            <a:avLst>
              <a:gd name="adj" fmla="val 4167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28052" y="1627632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728052" y="2231136"/>
            <a:ext cx="1728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source-exclusive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 per publisher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511132" y="1207008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501988" y="2157984"/>
            <a:ext cx="365760" cy="292608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26" name="Shape 23"/>
          <p:cNvSpPr/>
          <p:nvPr/>
        </p:nvSpPr>
        <p:spPr>
          <a:xfrm>
            <a:off x="10151212" y="1536192"/>
            <a:ext cx="1874520" cy="1536192"/>
          </a:xfrm>
          <a:prstGeom prst="roundRect">
            <a:avLst>
              <a:gd name="adj" fmla="val 4167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10224364" y="1627632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0224364" y="2231136"/>
            <a:ext cx="1728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exclusive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+ entity matrix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0080" y="3520440"/>
            <a:ext cx="310896" cy="31089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4008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207008" y="346557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build the corpus: retrieve candidate articles, extract clean article text, normalise and deduplicate.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40080" y="4160520"/>
            <a:ext cx="310896" cy="31089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1207008" y="410565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4–6 form the extractive stage: embed documents, cluster into events, reduce sentence-level redundancy.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40080" y="4800600"/>
            <a:ext cx="310896" cy="31089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207008" y="474573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7–8 generate the consensus summary from the deduplicated candidate pool.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640080" y="5440680"/>
            <a:ext cx="310896" cy="31089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4008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207008" y="538581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9–10 detect and summarise the content reported exclusively by each source.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640080" y="6080760"/>
            <a:ext cx="310896" cy="31089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640080" y="6080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1207008" y="6025896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compares named-entity coverage across publishers and assembles the final presentation.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AND METHODOLOGIES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3716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31673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Representation: TF-IDF vectors with sublinear term frequency and English stop-word removal for every sentence and document.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32257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Cosine similarity is the common measure driving clustering, redundancy reduction and divergence detection alike.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32841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clustering: Agglomerative clustering with average linkage over precomputed cosine distance, with the cluster count set by a distance threshold.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433425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generation: LexRank-style centrality ranking selects the most representative sentences from the deduplicated pool.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534009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ROUGE-1 / ROUGE-2 / ROUGE-L, distinct n-gram ratio, and precision / recall / F1 for the divergence module.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61008" y="14173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B8912F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734160" y="1490472"/>
            <a:ext cx="1728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17824" y="1732788"/>
            <a:ext cx="292608" cy="237744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9" name="Shape 6"/>
          <p:cNvSpPr/>
          <p:nvPr/>
        </p:nvSpPr>
        <p:spPr>
          <a:xfrm>
            <a:off x="3992728" y="14173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065880" y="1490472"/>
            <a:ext cx="1728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Retrieval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9544" y="1732788"/>
            <a:ext cx="292608" cy="237744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12" name="Shape 9"/>
          <p:cNvSpPr/>
          <p:nvPr/>
        </p:nvSpPr>
        <p:spPr>
          <a:xfrm>
            <a:off x="6324448" y="14173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97600" y="1490472"/>
            <a:ext cx="1728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Extraction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81264" y="1732788"/>
            <a:ext cx="292608" cy="237744"/>
          </a:xfrm>
          <a:prstGeom prst="rightArrow">
            <a:avLst/>
          </a:prstGeom>
          <a:solidFill>
            <a:srgbClr val="B8912F"/>
          </a:solidFill>
          <a:ln/>
        </p:spPr>
      </p:sp>
      <p:sp>
        <p:nvSpPr>
          <p:cNvPr id="15" name="Shape 12"/>
          <p:cNvSpPr/>
          <p:nvPr/>
        </p:nvSpPr>
        <p:spPr>
          <a:xfrm>
            <a:off x="8656168" y="1417320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729320" y="1490472"/>
            <a:ext cx="1728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Clustering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9544" y="2340864"/>
            <a:ext cx="292608" cy="310896"/>
          </a:xfrm>
          <a:prstGeom prst="downArrow">
            <a:avLst/>
          </a:prstGeom>
          <a:solidFill>
            <a:srgbClr val="B8912F"/>
          </a:solidFill>
          <a:ln/>
        </p:spPr>
      </p:sp>
      <p:sp>
        <p:nvSpPr>
          <p:cNvPr id="18" name="Shape 15"/>
          <p:cNvSpPr/>
          <p:nvPr/>
        </p:nvSpPr>
        <p:spPr>
          <a:xfrm>
            <a:off x="4678528" y="2706624"/>
            <a:ext cx="2834640" cy="731520"/>
          </a:xfrm>
          <a:prstGeom prst="roundRect">
            <a:avLst>
              <a:gd name="adj" fmla="val 8750"/>
            </a:avLst>
          </a:prstGeom>
          <a:solidFill>
            <a:srgbClr val="6E1424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751680" y="2779776"/>
            <a:ext cx="26883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Redundancy Reduction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95848" y="3438144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29888" y="3621024"/>
            <a:ext cx="393192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29888" y="3621024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61808" y="3621024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483968" y="3803904"/>
            <a:ext cx="3291840" cy="914400"/>
          </a:xfrm>
          <a:prstGeom prst="roundRect">
            <a:avLst>
              <a:gd name="adj" fmla="val 7000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2557120" y="3877056"/>
            <a:ext cx="3145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Consensus Generation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415888" y="3803904"/>
            <a:ext cx="3291840" cy="914400"/>
          </a:xfrm>
          <a:prstGeom prst="roundRect">
            <a:avLst>
              <a:gd name="adj" fmla="val 7000"/>
            </a:avLst>
          </a:prstGeom>
          <a:solidFill>
            <a:srgbClr val="9F1C33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489040" y="3877056"/>
            <a:ext cx="3145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Divergence Detection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129888" y="4718304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61808" y="4718304"/>
            <a:ext cx="0" cy="18288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29888" y="4901184"/>
            <a:ext cx="3931920" cy="0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9544" y="4846320"/>
            <a:ext cx="292608" cy="256032"/>
          </a:xfrm>
          <a:prstGeom prst="downArrow">
            <a:avLst/>
          </a:prstGeom>
          <a:solidFill>
            <a:srgbClr val="6B6B6B"/>
          </a:solidFill>
          <a:ln/>
        </p:spPr>
      </p:sp>
      <p:sp>
        <p:nvSpPr>
          <p:cNvPr id="32" name="Shape 29"/>
          <p:cNvSpPr/>
          <p:nvPr/>
        </p:nvSpPr>
        <p:spPr>
          <a:xfrm>
            <a:off x="3992728" y="5102352"/>
            <a:ext cx="4206240" cy="640080"/>
          </a:xfrm>
          <a:prstGeom prst="roundRect">
            <a:avLst>
              <a:gd name="adj" fmla="val 10000"/>
            </a:avLst>
          </a:prstGeom>
          <a:solidFill>
            <a:srgbClr val="B8912F"/>
          </a:solidFill>
          <a:ln/>
          <a:effectLst>
            <a:outerShdw blurRad="50800" dist="25400" dir="5400000" algn="bl" rotWithShape="0">
              <a:srgbClr val="3A3A3A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4065880" y="5175504"/>
            <a:ext cx="4059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AND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70636" y="13716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F7ECEE"/>
          </a:solidFill>
          <a:ln w="12700">
            <a:solidFill>
              <a:srgbClr val="9F1C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70636" y="14813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107796" y="19659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Event-clustering pairwise accuracy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72788" y="13716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F7ECEE"/>
          </a:solidFill>
          <a:ln w="12700">
            <a:solidFill>
              <a:srgbClr val="9F1C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72788" y="14813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609948" y="19659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point gain over LEAD-2 baseline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974940" y="1371600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F7ECEE"/>
          </a:solidFill>
          <a:ln w="12700">
            <a:solidFill>
              <a:srgbClr val="9F1C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4940" y="148132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112100" y="19659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Divergence-detection F1 score</a:t>
            </a:r>
            <a:endParaRPr lang="en-US" sz="11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48640" y="2697480"/>
          <a:ext cx="59893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Shape 12"/>
          <p:cNvSpPr/>
          <p:nvPr/>
        </p:nvSpPr>
        <p:spPr>
          <a:xfrm>
            <a:off x="6812280" y="2788920"/>
            <a:ext cx="347472" cy="347472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12280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415784" y="2734056"/>
            <a:ext cx="4197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reduction removes 60.27% of pooled sentences (73 → 29), raising the distinct bigram ratio from 0.7614 to 0.9594.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812280" y="3931920"/>
            <a:ext cx="347472" cy="347472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1228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415784" y="3877056"/>
            <a:ext cx="4197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detection scores Precision 0.9231 / Recall 1.0000 / F1 0.9600 against manually annotated ground truth.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812280" y="5074920"/>
            <a:ext cx="347472" cy="347472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12280" y="5074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7415784" y="5020056"/>
            <a:ext cx="41970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over the baseline come almost entirely from redundancy reduction, not sentence selection alone.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37160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31673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was implemented and evaluated on a constructed 12-article, 3-event corpus.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232257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recovered every event with perfect clustering accuracy and beat a LEAD-2 baseline on every ROUGE metric.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32841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Source-exclusive detection reached F1 0.9600, showing editorial differences can be surfaced reliably.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433425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redundancy across sources, not sentence selection, is the dominant challenge in multi-document summarization.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5394960"/>
            <a:ext cx="402336" cy="402336"/>
          </a:xfrm>
          <a:prstGeom prst="ellipse">
            <a:avLst/>
          </a:prstGeom>
          <a:solidFill>
            <a:srgbClr val="9F1C3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5394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298448" y="5340096"/>
            <a:ext cx="102229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limitations: TF-IDF misses paraphrase without shared vocabulary, the summary and divergence modules don't communicate, and the constructed corpus is easier than real reporting.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Mini Project 1-A Mock 1 Presentation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6473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5815" y="6215916"/>
            <a:ext cx="1005840" cy="4409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4630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Fabbri, A. et al. Multi-News: A Large-Scale Multi-Document Summarization Dataset. ACL, 2019.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J. et al. PEGASUS: Pre-training with Extracted Gap-sentences for Abstractive Summarization. ICML, 2020.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Beltagy, I., Peters, M. and Cohan, A. Longformer: The Long-Document Transformer. arXiv, 2020.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2062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M. et al. BART: Denoising Sequence-to-Sequence Pre-training for NLG, Translation and Comprehension. ACL, 2020.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1206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Reimers, N. and Gurevych, I. Sentence-BERT: Sentence Embeddings using Siamese BERT-Networks. EMNLP, 2019.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14630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Lin, C.-Y. ROUGE: A Package for Automatic Evaluation of Summaries. Text Summarization Branches Out, ACL, 2004.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3774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T. et al. BERTScore: Evaluating Text Generation with BERT. ICLR, 2020.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32918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Vaswani, A. et al. Attention Is All You Need. NeurIPS, 2017.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420624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F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</a:t>
            </a: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Nenkova, A. and McKeown, K. A Survey of Text Summarization Techniques. Mining Text Data, Springer, 2012.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F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E14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3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9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Sejal Zende  |  24AD1158  |  Guided by Dr. Saguna Ingle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134295" y="58064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work/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7175" y="5894435"/>
            <a:ext cx="1371600" cy="601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1319</Words>
  <Application>Microsoft Office PowerPoint</Application>
  <PresentationFormat>Widescreen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Sahil Khan</cp:lastModifiedBy>
  <cp:revision>2</cp:revision>
  <dcterms:created xsi:type="dcterms:W3CDTF">2026-09-16T09:27:54Z</dcterms:created>
  <dcterms:modified xsi:type="dcterms:W3CDTF">2026-09-22T04:48:05Z</dcterms:modified>
</cp:coreProperties>
</file>